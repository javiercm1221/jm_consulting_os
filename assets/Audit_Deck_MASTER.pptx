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286000"/>
            <a:ext cx="73152" cy="2286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 AUDIT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{{Cliente}}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ROI-first para implementación de IA aplicada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por JM Consulting · {{Fecha}}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datos para entender el audit en 30 segundos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65760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3657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299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año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{{X}}%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neto sobre costo de implementación + retainer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65760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011680"/>
            <a:ext cx="3657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0299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7432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{{Y}} meses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4617720" y="43891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desde rollout hasta recuperar la inversión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365760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2011680"/>
            <a:ext cx="3657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0299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7432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{{Z}}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8503920" y="43891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priorizadas en el quick-wins sprint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somos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Consulting &amp; Growth Systems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Claude diseña, Paperclip organiza, n8n ejecuta.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</a:rPr>
              <a:t>Firma boutique de consultoría en IA aplicada. </a:t>
            </a:r>
            <a:endParaRPr lang="en-US" sz="1800" dirty="0"/>
          </a:p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</a:rPr>
              <a:t>ROI-first, sin humo y con código. </a:t>
            </a:r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</a:rPr>
              <a:t>Trabajamos con un nicho a la vez para entregar resultados medibles.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0" y="20116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días — Roadmap ROI-first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33832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3383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semanas — Quick wins en producción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47548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4754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31520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315200" y="5074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Mensual — Mantenimiento y optimización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Filosofía: ROI-first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tocamos tiene un número detrás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91440" cy="91440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antes que tecnología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 por la métrica que mueve el negocio. La IA es el cómo, no el qué.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91440" cy="91440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63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 en el loop al inicio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 con review manual. Loop cerrado solo cuando la accuracy está validada.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91440" cy="91440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en 4 semanas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4526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plataforma sobre-ingeniada. Producción en sprint, escalamos después.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5166360"/>
            <a:ext cx="91440" cy="91440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66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continua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55778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desde día 1. Si no se mide, no se entrega.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del audit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pasos en 10 días hábiles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las 3-5 métricas que importan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1772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3154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end-to-end del negocio en 4 zonas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201168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0" y="21945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503920" y="27889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0" y="31546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con volumen, costo y tiempo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97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1520" y="4892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5257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viabilidad técnica por oportunidad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3400" y="411480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4297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617720" y="4892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17720" y="5257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Priorización Impact × Feasibility × Velocity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411480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0" y="4297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503920" y="4892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03920" y="5257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financiero con sensibilidad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objetivo de {{Cliente}}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3-5 métricas que vamos a mover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743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299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2011680"/>
            <a:ext cx="2743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0299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actual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2011680"/>
            <a:ext cx="2743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0299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961120" y="2011680"/>
            <a:ext cx="2743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9052560" y="202996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6888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{{Métrica 1}}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1840" y="24688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246888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{{Baseline}}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24688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46888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{{Target}}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61120" y="246888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246888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{{Horizonte}}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2743200" cy="73152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4612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{{Métrica 2}}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91840" y="3246120"/>
            <a:ext cx="2743200" cy="73152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324612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{{Baseline}}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3246120"/>
            <a:ext cx="2743200" cy="73152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24612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{{Target}}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961120" y="3246120"/>
            <a:ext cx="2743200" cy="731520"/>
          </a:xfrm>
          <a:prstGeom prst="rect">
            <a:avLst/>
          </a:prstGeom>
          <a:solidFill>
            <a:srgbClr val="F5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324612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{{Horizonte}}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02336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{{Métrica 3}}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91840" y="402336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402336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{{Baseline}}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26480" y="402336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402336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{{Target}}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961120" y="402336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52560" y="402336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{{Horizonte}}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recomendación posterior se mide contra estos números.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end-to-end del negocio en 4 zonas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5778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8100">
            <a:solidFill>
              <a:srgbClr val="FFB4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182880" cy="182880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entra valor: leads, prospects, intake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clave: {{listar 2-3}}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5778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011680"/>
            <a:ext cx="182880" cy="18288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2788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cumple: producción, fulfillment, atención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675120" y="3291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clave: {{listar 2-3}}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55778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8100">
            <a:solidFill>
              <a:srgbClr val="F9616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114800"/>
            <a:ext cx="182880" cy="1828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mantiene: soporte, renovación, satisfacción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394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clave: {{listar 2-3}}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4114800"/>
            <a:ext cx="5577840" cy="18288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38100">
            <a:solidFill>
              <a:srgbClr val="5A64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4114800"/>
            <a:ext cx="182880" cy="1828800"/>
          </a:xfrm>
          <a:prstGeom prst="rect">
            <a:avLst/>
          </a:prstGeom>
          <a:solidFill>
            <a:srgbClr val="5A6478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7512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sostiene: finanzas, compliance, reporting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5394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clave: {{listar 2-3}}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Map · highlights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10 tareas con mayor costo o frecuencia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02996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2011680"/>
            <a:ext cx="54864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029968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2011680"/>
            <a:ext cx="16459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0299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/ mes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2011680"/>
            <a:ext cx="16459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183880" y="20299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/ mes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784080" y="2011680"/>
            <a:ext cx="22860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829800" y="20299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anual USD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548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2377440"/>
            <a:ext cx="5486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774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 leads entrantes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237744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8160" y="237744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784080" y="237744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29800" y="23774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$17.808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743200"/>
            <a:ext cx="54864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743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05840" y="2743200"/>
            <a:ext cx="548640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2743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inicial a inquilinos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2743200"/>
            <a:ext cx="164592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2743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38160" y="2743200"/>
            <a:ext cx="164592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2743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784080" y="2743200"/>
            <a:ext cx="228600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29800" y="2743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$33.600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108960"/>
            <a:ext cx="548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05840" y="3108960"/>
            <a:ext cx="5486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31089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request triage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310896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38160" y="310896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83880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784080" y="310896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829800" y="3108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$7.920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3474720"/>
            <a:ext cx="54864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05840" y="3474720"/>
            <a:ext cx="548640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51560" y="34747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Reconciliación de pagos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92240" y="3474720"/>
            <a:ext cx="164592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37960" y="3474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138160" y="3474720"/>
            <a:ext cx="164592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83880" y="3474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784080" y="3474720"/>
            <a:ext cx="228600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29800" y="3474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$34.560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3840480"/>
            <a:ext cx="548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005840" y="3840480"/>
            <a:ext cx="5486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51560" y="3840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reporting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492240" y="384048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37960" y="3840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138160" y="384048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83880" y="3840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784080" y="384048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2980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$11.520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57200" y="4206240"/>
            <a:ext cx="54864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" y="4206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1005840" y="4206240"/>
            <a:ext cx="548640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" y="4206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screening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92240" y="4206240"/>
            <a:ext cx="164592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37960" y="4206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138160" y="4206240"/>
            <a:ext cx="164592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183880" y="4206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9784080" y="4206240"/>
            <a:ext cx="228600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2980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$13.440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457200" y="4572000"/>
            <a:ext cx="548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0292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1005840" y="4572000"/>
            <a:ext cx="5486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51560" y="45720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Renovaciones de contratos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492240" y="457200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37960" y="4572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8138160" y="457200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183880" y="4572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9784080" y="457200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829800" y="4572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$10.000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57200" y="4937760"/>
            <a:ext cx="54864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02920" y="4937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1005840" y="4937760"/>
            <a:ext cx="548640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51560" y="4937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propiedad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6492240" y="4937760"/>
            <a:ext cx="164592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537960" y="4937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8138160" y="4937760"/>
            <a:ext cx="164592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183880" y="4937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9784080" y="4937760"/>
            <a:ext cx="228600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829800" y="4937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$14.400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457200" y="5303520"/>
            <a:ext cx="5486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02920" y="5303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1005840" y="5303520"/>
            <a:ext cx="54864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51560" y="5303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Categorización de facturas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6492240" y="530352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537960" y="5303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8138160" y="530352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183880" y="53035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9784080" y="5303520"/>
            <a:ext cx="2286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829800" y="5303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$7.680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457200" y="5669280"/>
            <a:ext cx="54864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02920" y="5669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1005840" y="5669280"/>
            <a:ext cx="548640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051560" y="56692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Eviction notices prep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6492240" y="5669280"/>
            <a:ext cx="164592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537960" y="5669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8138160" y="5669280"/>
            <a:ext cx="164592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183880" y="5669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9784080" y="5669280"/>
            <a:ext cx="2286000" cy="36576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9829800" y="5669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$7.200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116" name="Text 114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técnica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preguntas que pasamos sobre cada oportunidad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731520" cy="7315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B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data suficiente y limpia?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Volumen, calidad, accesibilidad legal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731520" cy="7315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B4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accuracy actual del modelo es suficiente?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contra humano. Si no, descartar o esperar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731520" cy="7315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B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integra con sistemas existentes?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480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webhooks, exports — sin replatform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166360"/>
            <a:ext cx="731520" cy="73152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B4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166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operador está dispuesto a usarlo?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5532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es 50% del éxito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Matrix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× Feasibility = decisión de qué arrancar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64008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4114800"/>
            <a:ext cx="640080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828800"/>
            <a:ext cx="0" cy="457200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Swings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5943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Nice-to-haves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5943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463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" y="3931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2286000"/>
            <a:ext cx="228600" cy="22860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classifier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2926080"/>
            <a:ext cx="228600" cy="228600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2880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Maint. triage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0" y="502920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4983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5303520"/>
            <a:ext cx="228600" cy="228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5257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extraction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2926080"/>
            <a:ext cx="228600" cy="228600"/>
          </a:xfrm>
          <a:prstGeom prst="ellipse">
            <a:avLst/>
          </a:prstGeom>
          <a:solidFill>
            <a:srgbClr val="5A6478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880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nudger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0" y="5029200"/>
            <a:ext cx="228600" cy="228600"/>
          </a:xfrm>
          <a:prstGeom prst="ellipse">
            <a:avLst/>
          </a:prstGeom>
          <a:solidFill>
            <a:srgbClr val="5A6478"/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0" y="4983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Eviction prep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leemos el mapa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0" y="2468880"/>
            <a:ext cx="3383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</a:t>
            </a:r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arrancar en sprint mes 1.
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Swings </a:t>
            </a:r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planificar mes 2-3.
</a:t>
            </a:r>
            <a:pPr indent="0" marL="0">
              <a:buNone/>
            </a:pPr>
            <a:r>
              <a:rPr lang="en-US" sz="12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Nice-to-haves </a:t>
            </a:r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backlog.
</a:t>
            </a:r>
            <a:pPr indent="0" marL="0">
              <a:buNone/>
            </a:pPr>
            <a:r>
              <a:rPr lang="en-US" sz="12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 </a:t>
            </a:r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archivar o esperar.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recomendado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de 90 días con quick wins primero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657600" cy="54864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2996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B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43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Sprint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workstreams en producción · ROI visible · Loop con humano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6576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02996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43400" y="256032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743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Swing #1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6280" y="33832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Arrancar la oportunidad de mayor impacto · Discovery + diseño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36576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029968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0" y="256032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7432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Estabilizar + Big Swing #1 live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0" y="338328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swing en producción · Quick wins en optimization cycle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#1 · Quick Win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{{Nombre del workstream}}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{{Descripción técnica de qué automatizamos: clasifica X, responde Y, integra con Z}}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mide?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{{Métrica primaria}}: de {{baseline}} a {{target}}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{{Métrica secundaria}}: de {{baseline}} a {{target}}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011680"/>
            <a:ext cx="5303520" cy="4297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6060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{{$X.XXX}}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58368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mensual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3794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{{$X.XXX}} / mes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8368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anual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9834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{{$XX.XXX}}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83680" y="5760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{{X}} meses · ROI año 1: {{X}}%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#2 · Big Swing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{{Nombre del workstream}}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{{Descripción técnica}}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{{Razón de negocio: por qué este es el big swing del cliente}}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011680"/>
            <a:ext cx="5303520" cy="4297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6060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{{$X.XXX}}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58368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mensual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37947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{{$X.XXX}} / mes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8368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anual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9834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{{$XX.XXX}}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83680" y="5760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Payback: {{X}} meses · ROI año 1: {{X}}%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 propuesto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Probado, observable, con costo bajo control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2860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2996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2011680"/>
            <a:ext cx="41148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2029968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0" y="2011680"/>
            <a:ext cx="51206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2029968"/>
            <a:ext cx="4937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68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246888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4688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4.x (default), GPT-4.x (fallback)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2468880"/>
            <a:ext cx="5120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24688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por costo y caso. Open-source si lo exige compliance.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228600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089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0" y="3108960"/>
            <a:ext cx="411480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31089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cloud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3108960"/>
            <a:ext cx="512064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1089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visuales, fácil handoff, scaling controlado.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490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/ Storage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0" y="374904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37490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pgvector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0" y="3749040"/>
            <a:ext cx="5120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37490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Postgres-friendly, hosted, integrable.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389120"/>
            <a:ext cx="228600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389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0" y="4389120"/>
            <a:ext cx="411480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0" y="4389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/ Helicone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0" y="4389120"/>
            <a:ext cx="5120640" cy="64008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43891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de cada call, costo por endpoint, alertas.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502920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0292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43200" y="502920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0" y="50292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Next.js (cuando aplique)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58000" y="5029200"/>
            <a:ext cx="51206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5029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y UIs simples para operadores.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42" name="Text 40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rollout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→ scale-up → 100% con gates de validación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11247120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3977640"/>
            <a:ext cx="365760" cy="365760"/>
          </a:xfrm>
          <a:prstGeom prst="ellipse">
            <a:avLst/>
          </a:prstGeom>
          <a:solidFill>
            <a:srgbClr val="5A647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5A64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Acceso, prototipo con data del cliente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{{criterio}}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977640"/>
            <a:ext cx="365760" cy="365760"/>
          </a:xfrm>
          <a:prstGeom prst="ellipse">
            <a:avLst/>
          </a:prstGeom>
          <a:solidFill>
            <a:srgbClr val="FFB4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103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FFB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3017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10-20% tráfico real con humano-in-loop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{{criterio}}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0" y="3977640"/>
            <a:ext cx="365760" cy="365760"/>
          </a:xfrm>
          <a:prstGeom prst="ellipse">
            <a:avLst/>
          </a:prstGeom>
          <a:solidFill>
            <a:srgbClr val="FFB4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103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FFB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3017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con monitoreo intensivo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{{criterio}}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515600" y="3977640"/>
            <a:ext cx="365760" cy="365760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0" y="210312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1832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18320" y="3017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completo + handoff a retainer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3544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{{criterio}}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desde día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mide, no se entrega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+2.1pp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201168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p95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6616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-0.3s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01168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call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$0.012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9224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-18%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235440" y="2011680"/>
            <a:ext cx="2743200" cy="2103120"/>
          </a:xfrm>
          <a:prstGeom prst="roundRect">
            <a:avLst>
              <a:gd name="adj" fmla="val 6522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Auto-resolve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18320" y="26060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941832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+12pp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workstream tiene dashboard propio + alertas + runbook desde el día del rollout.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Trace completo de cada LLM call (Langfuse).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Alertas a Slack si alguna métrica se sale del rango (Sev 1-4).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Reporte mensual con análisis de tendencias y ROI delta.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mitigaciones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los nombramos antes de arrancar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3035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02996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2011680"/>
            <a:ext cx="5943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897880" y="2029968"/>
            <a:ext cx="5669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5303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688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del operador menor a la esperada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2468880"/>
            <a:ext cx="5943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246888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internos + entrenamiento + UI minimalista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5303520" cy="77724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461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data del cliente insuficiente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3246120"/>
            <a:ext cx="5943600" cy="77724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324612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semana 1 + plan de remediation antes de producción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5303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0233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API fuera de presupuesto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4023360"/>
            <a:ext cx="5943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402336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 120% + caching agresivo + selección de modelo por costo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800600"/>
            <a:ext cx="5303520" cy="77724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800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scope mid-sprint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0" y="4800600"/>
            <a:ext cx="5943600" cy="777240"/>
          </a:xfrm>
          <a:prstGeom prst="rect">
            <a:avLst/>
          </a:prstGeom>
          <a:solidFill>
            <a:srgbClr val="F5F7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480060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Order obligatorio + impact en timeline visible al sponsor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577840"/>
            <a:ext cx="5303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5778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sistemas legacy del cliente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0" y="5577840"/>
            <a:ext cx="59436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557784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técnico fase 0 + adapters específicos si es necesario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y ROI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agregados de la propuesta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total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{{XX.XXX}}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One-time, pago por milestones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148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mensual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26060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{{X.XXX}}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2628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{{1-4}}, mantenimiento + optimización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201168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148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anual proyectado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260604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{{XXX.XXX}}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41248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+ revenue adicional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1124712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año 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029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{{XXX}} %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4572000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5029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{{X.X}} meses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95528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acumulado año 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0" y="5029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{{XXX.XXX}}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Quiénes ejecutan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dedicado · accountability clara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C.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Account Lead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30632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del cliente, decisiones de arquitectura, escalation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40664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Agent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0664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técnica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06640" y="30632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Specs, build, deploy, monitoreo, optimización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97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55448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Lead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roadmap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5074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opportunities, ROI calc, handoff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42976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297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40664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Success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0664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+ retainer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0" y="50749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Cadencia, MBR, escalation operativa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activamos el sprint en los próximos 7 días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3716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2011680"/>
            <a:ext cx="9875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011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del audit y firma del SOW del Quick Wins Sprint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13716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88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2-3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28800" y="2788920"/>
            <a:ext cx="9875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2788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técnico + accesos a sistemas + nombramiento de champions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13716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661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4-5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0" y="3566160"/>
            <a:ext cx="9875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35661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final + spec firmada del Workstream #1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13716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434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828800" y="4343400"/>
            <a:ext cx="9875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4343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de stack técnico + dashboards iniciales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13716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1206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7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828800" y="5120640"/>
            <a:ext cx="9875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51206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Arrancamos Semana 1 del sprint formalmente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comerciales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desde el día uno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2004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2011680"/>
            <a:ext cx="8046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201168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Entregado · Sign-off al final de esta presentación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32004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889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Quick Wins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2788920"/>
            <a:ext cx="8046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27889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{{XX.XXX}} · 4 semanas · 50% kickoff, 50% rollout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32004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661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post-sprint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3566160"/>
            <a:ext cx="8046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356616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{{X.XXX}} / mes · Tier {{1-4}} · 12 meses con renovación auto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343400"/>
            <a:ext cx="32004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3434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0" y="4343400"/>
            <a:ext cx="8046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434340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según tier · MBR mensual · Optimization cycle trimestral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3200400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1206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de cláusulas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0" y="5120640"/>
            <a:ext cx="8046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51206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con 30 días de aviso · Sin penalty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2183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 Consulting · AI Opportunity Audit · Confidencial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601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1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Listos para arrancar.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no es si la IA va a transformar tu operación.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quién la va a implementar bien y cuándo.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Castro Marra · JM Consulting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javiercm1221.jm@gmail.com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JM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JM Consulting — AI Opportunity Audit</dc:title>
  <dc:subject>PptxGenJS Presentation</dc:subject>
  <dc:creator>PptxGenJS</dc:creator>
  <cp:lastModifiedBy>PptxGenJS</cp:lastModifiedBy>
  <cp:revision>1</cp:revision>
  <dcterms:created xsi:type="dcterms:W3CDTF">2026-04-18T10:57:04Z</dcterms:created>
  <dcterms:modified xsi:type="dcterms:W3CDTF">2026-04-18T10:57:04Z</dcterms:modified>
</cp:coreProperties>
</file>